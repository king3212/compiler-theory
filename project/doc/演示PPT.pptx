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27"/>
  </p:notesMasterIdLst>
  <p:sldIdLst>
    <p:sldId id="256" r:id="rId5"/>
    <p:sldId id="266" r:id="rId6"/>
    <p:sldId id="265" r:id="rId7"/>
    <p:sldId id="313" r:id="rId8"/>
    <p:sldId id="314" r:id="rId9"/>
    <p:sldId id="315" r:id="rId10"/>
    <p:sldId id="316" r:id="rId11"/>
    <p:sldId id="295" r:id="rId12"/>
    <p:sldId id="296" r:id="rId13"/>
    <p:sldId id="297" r:id="rId14"/>
    <p:sldId id="298" r:id="rId15"/>
    <p:sldId id="317" r:id="rId16"/>
    <p:sldId id="300" r:id="rId17"/>
    <p:sldId id="299" r:id="rId18"/>
    <p:sldId id="318" r:id="rId19"/>
    <p:sldId id="301" r:id="rId20"/>
    <p:sldId id="319" r:id="rId21"/>
    <p:sldId id="309" r:id="rId22"/>
    <p:sldId id="310" r:id="rId23"/>
    <p:sldId id="322" r:id="rId24"/>
    <p:sldId id="264" r:id="rId25"/>
    <p:sldId id="312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1" Type="http://schemas.openxmlformats.org/officeDocument/2006/relationships/tags" Target="tags/tag37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9" Type="http://schemas.openxmlformats.org/officeDocument/2006/relationships/tags" Target="../tags/tag236.xml"/><Relationship Id="rId18" Type="http://schemas.openxmlformats.org/officeDocument/2006/relationships/tags" Target="../tags/tag235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8" Type="http://schemas.openxmlformats.org/officeDocument/2006/relationships/tags" Target="../tags/tag258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96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9" Type="http://schemas.openxmlformats.org/officeDocument/2006/relationships/tags" Target="../tags/tag319.xml"/><Relationship Id="rId18" Type="http://schemas.openxmlformats.org/officeDocument/2006/relationships/tags" Target="../tags/tag318.xml"/><Relationship Id="rId17" Type="http://schemas.openxmlformats.org/officeDocument/2006/relationships/tags" Target="../tags/tag317.xml"/><Relationship Id="rId16" Type="http://schemas.openxmlformats.org/officeDocument/2006/relationships/tags" Target="../tags/tag316.xml"/><Relationship Id="rId15" Type="http://schemas.openxmlformats.org/officeDocument/2006/relationships/tags" Target="../tags/tag315.xml"/><Relationship Id="rId14" Type="http://schemas.openxmlformats.org/officeDocument/2006/relationships/tags" Target="../tags/tag314.xml"/><Relationship Id="rId13" Type="http://schemas.openxmlformats.org/officeDocument/2006/relationships/tags" Target="../tags/tag313.xml"/><Relationship Id="rId12" Type="http://schemas.openxmlformats.org/officeDocument/2006/relationships/tags" Target="../tags/tag312.xml"/><Relationship Id="rId11" Type="http://schemas.openxmlformats.org/officeDocument/2006/relationships/tags" Target="../tags/tag311.xml"/><Relationship Id="rId10" Type="http://schemas.openxmlformats.org/officeDocument/2006/relationships/tags" Target="../tags/tag31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327.xml"/><Relationship Id="rId18" Type="http://schemas.openxmlformats.org/officeDocument/2006/relationships/tags" Target="../tags/tag326.xml"/><Relationship Id="rId17" Type="http://schemas.openxmlformats.org/officeDocument/2006/relationships/tags" Target="../tags/tag325.xml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339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4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4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4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50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5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5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64.xml"/><Relationship Id="rId1" Type="http://schemas.openxmlformats.org/officeDocument/2006/relationships/hyperlink" Target="action.drawio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6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367.xml"/><Relationship Id="rId1" Type="http://schemas.openxmlformats.org/officeDocument/2006/relationships/tags" Target="../tags/tag36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>
            <a:normAutofit/>
          </a:bodyPr>
          <a:p>
            <a:r>
              <a:rPr lang="zh-CN" altLang="en-US" dirty="0"/>
              <a:t>编译原理课程项目</a:t>
            </a:r>
            <a:r>
              <a:rPr lang="zh-CN" altLang="en-US" dirty="0"/>
              <a:t>汇报</a:t>
            </a:r>
            <a:endParaRPr lang="zh-CN" altLang="en-US" dirty="0"/>
          </a:p>
        </p:txBody>
      </p:sp>
      <p:sp>
        <p:nvSpPr>
          <p:cNvPr id="9" name="文本占位符 8"/>
          <p:cNvSpPr/>
          <p:nvPr>
            <p:ph type="body" sz="quarter" idx="17"/>
          </p:nvPr>
        </p:nvSpPr>
        <p:spPr>
          <a:xfrm>
            <a:off x="2857500" y="4600575"/>
            <a:ext cx="6477000" cy="1685290"/>
          </a:xfrm>
        </p:spPr>
        <p:txBody>
          <a:bodyPr>
            <a:normAutofit lnSpcReduction="10000"/>
          </a:bodyPr>
          <a:p>
            <a:r>
              <a:rPr lang="zh-CN" altLang="en-US"/>
              <a:t>汇报人：黄兆清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 sz="2000"/>
              <a:t>2022</a:t>
            </a:r>
            <a:r>
              <a:rPr lang="zh-CN" altLang="en-US" sz="2000"/>
              <a:t>级</a:t>
            </a:r>
            <a:r>
              <a:rPr lang="en-US" altLang="zh-CN" sz="2000"/>
              <a:t> </a:t>
            </a:r>
            <a:r>
              <a:rPr lang="zh-CN" altLang="en-US" sz="2000"/>
              <a:t>计算机科学与技术</a:t>
            </a:r>
            <a:r>
              <a:rPr lang="en-US" altLang="zh-CN" sz="2000"/>
              <a:t> 2</a:t>
            </a:r>
            <a:r>
              <a:rPr lang="zh-CN" altLang="en-US" sz="2000"/>
              <a:t>班</a:t>
            </a:r>
            <a:endParaRPr lang="zh-CN" altLang="en-US" sz="2000"/>
          </a:p>
          <a:p>
            <a:r>
              <a:rPr lang="zh-CN" altLang="en-US" sz="2000"/>
              <a:t>学号：</a:t>
            </a:r>
            <a:r>
              <a:rPr lang="en-US" altLang="zh-CN" sz="2000"/>
              <a:t>20222131044</a:t>
            </a:r>
            <a:endParaRPr lang="en-US" altLang="zh-CN" sz="20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1629679" y="1479504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2609643" y="1479599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词法分析器生成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器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6" name="序号"/>
          <p:cNvSpPr txBox="1"/>
          <p:nvPr>
            <p:custDataLst>
              <p:tags r:id="rId4"/>
            </p:custDataLst>
          </p:nvPr>
        </p:nvSpPr>
        <p:spPr>
          <a:xfrm>
            <a:off x="1629679" y="2443042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项标题"/>
          <p:cNvSpPr txBox="1"/>
          <p:nvPr>
            <p:custDataLst>
              <p:tags r:id="rId5"/>
            </p:custDataLst>
          </p:nvPr>
        </p:nvSpPr>
        <p:spPr>
          <a:xfrm>
            <a:off x="2609643" y="2443137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词法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分析器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序号"/>
          <p:cNvSpPr txBox="1"/>
          <p:nvPr>
            <p:custDataLst>
              <p:tags r:id="rId6"/>
            </p:custDataLst>
          </p:nvPr>
        </p:nvSpPr>
        <p:spPr>
          <a:xfrm>
            <a:off x="1629679" y="4370117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04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项标题"/>
          <p:cNvSpPr txBox="1"/>
          <p:nvPr>
            <p:custDataLst>
              <p:tags r:id="rId7"/>
            </p:custDataLst>
          </p:nvPr>
        </p:nvSpPr>
        <p:spPr>
          <a:xfrm>
            <a:off x="2609643" y="4370212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语法分析器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序号"/>
          <p:cNvSpPr txBox="1"/>
          <p:nvPr>
            <p:custDataLst>
              <p:tags r:id="rId8"/>
            </p:custDataLst>
          </p:nvPr>
        </p:nvSpPr>
        <p:spPr>
          <a:xfrm>
            <a:off x="1629679" y="340658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项标题"/>
          <p:cNvSpPr txBox="1"/>
          <p:nvPr>
            <p:custDataLst>
              <p:tags r:id="rId9"/>
            </p:custDataLst>
          </p:nvPr>
        </p:nvSpPr>
        <p:spPr>
          <a:xfrm>
            <a:off x="2609643" y="3406675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LR1/LALR1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生成器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词法分析器</a:t>
            </a:r>
            <a:r>
              <a:rPr lang="zh-CN" altLang="en-US" dirty="0"/>
              <a:t>生成器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>
                <a:ea typeface="宋体" panose="02010600030101010101" pitchFamily="2" charset="-122"/>
              </a:rPr>
              <a:t>输入</a:t>
            </a:r>
            <a:r>
              <a:rPr lang="zh-CN" altLang="zh-CN">
                <a:ea typeface="宋体" panose="02010600030101010101" pitchFamily="2" charset="-122"/>
              </a:rPr>
              <a:t>要求</a:t>
            </a: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输入文件为</a:t>
            </a:r>
            <a:r>
              <a:rPr lang="en-US" altLang="zh-CN"/>
              <a:t>.rul</a:t>
            </a:r>
            <a:r>
              <a:rPr lang="zh-CN" altLang="en-US"/>
              <a:t>的正则文</a:t>
            </a:r>
            <a:r>
              <a:rPr lang="zh-CN" altLang="en-US"/>
              <a:t>件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&gt;&gt;</a:t>
            </a:r>
            <a:r>
              <a:rPr lang="zh-CN" altLang="en-US"/>
              <a:t>作为</a:t>
            </a:r>
            <a:r>
              <a:rPr lang="en-US" altLang="zh-CN"/>
              <a:t>.rul</a:t>
            </a:r>
            <a:r>
              <a:rPr lang="zh-CN" altLang="en-US"/>
              <a:t>文件内的</a:t>
            </a:r>
            <a:r>
              <a:rPr lang="zh-CN" altLang="en-US"/>
              <a:t>注释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若存在注释，长注释的开闭符号、单行注释的开始符号必须于文件头部声明</a:t>
            </a:r>
            <a:endParaRPr lang="zh-CN" altLang="en-US"/>
          </a:p>
          <a:p>
            <a:pPr lvl="1"/>
            <a:r>
              <a:rPr lang="zh-CN" altLang="en-US"/>
              <a:t>长注释开：_open_comment =</a:t>
            </a:r>
            <a:endParaRPr lang="zh-CN" altLang="en-US"/>
          </a:p>
          <a:p>
            <a:pPr lvl="1"/>
            <a:r>
              <a:rPr lang="zh-CN" altLang="en-US"/>
              <a:t>长注释闭：_close_comment =</a:t>
            </a:r>
            <a:endParaRPr lang="zh-CN" altLang="en-US"/>
          </a:p>
          <a:p>
            <a:pPr lvl="1"/>
            <a:r>
              <a:rPr lang="zh-CN" altLang="en-US"/>
              <a:t>单行注释开：_oneLine_comment_open =</a:t>
            </a:r>
            <a:endParaRPr lang="zh-CN" altLang="en-US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输入</a:t>
            </a:r>
            <a:r>
              <a:rPr lang="zh-CN" altLang="en-US"/>
              <a:t>规范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z="2400">
                <a:sym typeface="+mn-ea"/>
              </a:rPr>
              <a:t>自定义正则书写为以下</a:t>
            </a:r>
            <a:r>
              <a:rPr lang="zh-CN" altLang="en-US" sz="2400">
                <a:sym typeface="+mn-ea"/>
              </a:rPr>
              <a:t>格式</a:t>
            </a:r>
            <a:endParaRPr lang="zh-CN" altLang="en-US" sz="2400">
              <a:sym typeface="+mn-ea"/>
            </a:endParaRPr>
          </a:p>
          <a:p>
            <a:pPr lvl="1"/>
            <a:r>
              <a:rPr lang="zh-CN" altLang="en-US" sz="2000">
                <a:sym typeface="+mn-ea"/>
              </a:rPr>
              <a:t>&lt;正则类型(可无意义)&gt; &lt;起始编码&gt; = &lt;第一个待编码正则&gt; &lt;第二个待编码正则&gt; &lt;第三个待编码正则&gt; ....</a:t>
            </a:r>
            <a:endParaRPr lang="zh-CN" altLang="en-US" sz="2000">
              <a:sym typeface="+mn-ea"/>
            </a:endParaRPr>
          </a:p>
          <a:p>
            <a:pPr lvl="1"/>
            <a:r>
              <a:rPr lang="zh-CN" altLang="en-US" sz="2400">
                <a:ea typeface="宋体" panose="02010600030101010101" pitchFamily="2" charset="-122"/>
                <a:sym typeface="+mn-ea"/>
              </a:rPr>
              <a:t>使用方法如下：</a:t>
            </a:r>
            <a:endParaRPr lang="zh-CN" altLang="en-US" sz="2400">
              <a:sym typeface="+mn-ea"/>
            </a:endParaRPr>
          </a:p>
          <a:p>
            <a:pPr lvl="1"/>
            <a:r>
              <a:rPr lang="zh-CN" altLang="en-US" sz="2000">
                <a:sym typeface="+mn-ea"/>
              </a:rPr>
              <a:t>keywords 1000 = if else while do return void int float double</a:t>
            </a:r>
            <a:endParaRPr lang="zh-CN" altLang="en-US" sz="2000">
              <a:sym typeface="+mn-ea"/>
            </a:endParaRPr>
          </a:p>
          <a:p>
            <a:pPr lvl="1"/>
            <a:endParaRPr lang="zh-CN" altLang="en-US" sz="2000">
              <a:sym typeface="+mn-ea"/>
            </a:endParaRPr>
          </a:p>
          <a:p>
            <a:pPr lvl="0"/>
            <a:r>
              <a:rPr lang="zh-CN" altLang="en-US" sz="2400">
                <a:sym typeface="+mn-ea"/>
              </a:rPr>
              <a:t>预定义的正则符号有</a:t>
            </a:r>
            <a:r>
              <a:rPr lang="en-US" altLang="zh-CN" sz="2400">
                <a:sym typeface="+mn-ea"/>
              </a:rPr>
              <a:t> letter </a:t>
            </a:r>
            <a:r>
              <a:rPr lang="zh-CN" altLang="en-US" sz="2400">
                <a:sym typeface="+mn-ea"/>
              </a:rPr>
              <a:t>和</a:t>
            </a:r>
            <a:r>
              <a:rPr lang="en-US" altLang="zh-CN" sz="2400">
                <a:sym typeface="+mn-ea"/>
              </a:rPr>
              <a:t> digit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letter定义为：[a-zA-Z]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 digit定义为：[0-9]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 sz="2400">
                <a:ea typeface="宋体" panose="02010600030101010101" pitchFamily="2" charset="-122"/>
                <a:sym typeface="+mn-ea"/>
              </a:rPr>
              <a:t>使用方法如下：</a:t>
            </a:r>
            <a:endParaRPr lang="zh-CN" altLang="en-US" sz="2400">
              <a:ea typeface="宋体" panose="02010600030101010101" pitchFamily="2" charset="-122"/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id 10 = (_|letter)(_|letter|digit)*</a:t>
            </a:r>
            <a:endParaRPr lang="en-US" altLang="zh-CN">
              <a:sym typeface="+mn-ea"/>
            </a:endParaRPr>
          </a:p>
          <a:p>
            <a:pPr lvl="1"/>
            <a:endParaRPr lang="en-US" altLang="zh-CN" sz="2400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将输入转为正则</a:t>
            </a:r>
            <a:r>
              <a:rPr lang="zh-CN" altLang="en-US"/>
              <a:t>表达式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输入</a:t>
            </a:r>
            <a:r>
              <a:rPr lang="zh-CN" altLang="en-US"/>
              <a:t>类似：</a:t>
            </a:r>
            <a:r>
              <a:rPr lang="zh-CN" altLang="en-US">
                <a:sym typeface="+mn-ea"/>
              </a:rPr>
              <a:t>keywords 1000 = if else</a:t>
            </a:r>
            <a:r>
              <a:rPr lang="en-US" altLang="zh-CN">
                <a:sym typeface="+mn-ea"/>
              </a:rPr>
              <a:t> ...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将其展开为编码对应</a:t>
            </a:r>
            <a:r>
              <a:rPr lang="zh-CN" altLang="en-US">
                <a:sym typeface="+mn-ea"/>
              </a:rPr>
              <a:t>的正则</a:t>
            </a:r>
            <a:endParaRPr lang="zh-CN" altLang="en-US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_1000 = if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_1001 = else</a:t>
            </a:r>
            <a:endParaRPr lang="en-US" altLang="zh-CN">
              <a:sym typeface="+mn-ea"/>
            </a:endParaRPr>
          </a:p>
          <a:p>
            <a:pPr lvl="1"/>
            <a:endParaRPr lang="en-US" altLang="zh-CN">
              <a:sym typeface="+mn-ea"/>
            </a:endParaRPr>
          </a:p>
          <a:p>
            <a:pPr lvl="0"/>
            <a:r>
              <a:rPr lang="zh-CN" altLang="en-US" sz="2400">
                <a:sym typeface="+mn-ea"/>
              </a:rPr>
              <a:t>输入</a:t>
            </a:r>
            <a:r>
              <a:rPr lang="zh-CN" altLang="en-US" sz="2400">
                <a:sym typeface="+mn-ea"/>
              </a:rPr>
              <a:t>类似：</a:t>
            </a:r>
            <a:r>
              <a:rPr lang="zh-CN" altLang="en-US">
                <a:sym typeface="+mn-ea"/>
              </a:rPr>
              <a:t>_oneLine_comment_open =</a:t>
            </a:r>
            <a:r>
              <a:rPr lang="en-US" altLang="zh-CN">
                <a:sym typeface="+mn-ea"/>
              </a:rPr>
              <a:t> //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将其直接作为正则表达式</a:t>
            </a:r>
            <a:endParaRPr lang="en-US" altLang="zh-CN">
              <a:sym typeface="+mn-ea"/>
            </a:endParaRPr>
          </a:p>
          <a:p>
            <a:pPr lvl="0"/>
            <a:endParaRPr lang="en-US" altLang="zh-CN">
              <a:sym typeface="+mn-ea"/>
            </a:endParaRPr>
          </a:p>
          <a:p>
            <a:pPr lvl="0"/>
            <a:endParaRPr lang="en-US" altLang="zh-CN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正则表达式转</a:t>
            </a:r>
            <a:r>
              <a:rPr lang="en-US" altLang="zh-CN"/>
              <a:t>DFA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在编译原理理论课中实验二</a:t>
            </a:r>
            <a:r>
              <a:rPr lang="zh-CN" altLang="en-US"/>
              <a:t>实现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先将正则表达式转为</a:t>
            </a:r>
            <a:r>
              <a:rPr lang="en-US" altLang="zh-CN"/>
              <a:t>NFA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再将</a:t>
            </a:r>
            <a:r>
              <a:rPr lang="en-US" altLang="zh-CN"/>
              <a:t>NFA</a:t>
            </a:r>
            <a:r>
              <a:rPr lang="zh-CN" altLang="en-US"/>
              <a:t>转为</a:t>
            </a:r>
            <a:r>
              <a:rPr lang="en-US" altLang="zh-CN"/>
              <a:t>DFA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最后将</a:t>
            </a:r>
            <a:r>
              <a:rPr lang="en-US" altLang="zh-CN"/>
              <a:t>DFA</a:t>
            </a:r>
            <a:r>
              <a:rPr lang="zh-CN" altLang="en-US"/>
              <a:t>最小化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DFA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生成代码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49825" y="0"/>
            <a:ext cx="7242175" cy="6857365"/>
          </a:xfrm>
          <a:prstGeom prst="rect">
            <a:avLst/>
          </a:prstGeom>
        </p:spPr>
      </p:pic>
      <p:pic>
        <p:nvPicPr>
          <p:cNvPr id="7" name="图片 6" descr="微信图片_202412051350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" y="1224280"/>
            <a:ext cx="5337175" cy="5149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DFA</a:t>
            </a:r>
            <a:r>
              <a:rPr lang="zh-CN" altLang="en-US"/>
              <a:t>生成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对每一个</a:t>
            </a:r>
            <a:r>
              <a:rPr lang="en-US" altLang="zh-CN"/>
              <a:t>DFA</a:t>
            </a:r>
            <a:r>
              <a:rPr lang="zh-CN" altLang="en-US"/>
              <a:t>生成一个函数头，接受字符输入</a:t>
            </a:r>
            <a:r>
              <a:rPr lang="en-US" altLang="zh-CN"/>
              <a:t>input</a:t>
            </a:r>
            <a:r>
              <a:rPr lang="zh-CN" altLang="en-US">
                <a:ea typeface="宋体" panose="02010600030101010101" pitchFamily="2" charset="-122"/>
              </a:rPr>
              <a:t>，返回识别结果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/>
          </a:p>
          <a:p>
            <a:endParaRPr lang="zh-CN" altLang="en-US" sz="1000"/>
          </a:p>
          <a:p>
            <a:r>
              <a:rPr lang="zh-CN" altLang="en-US"/>
              <a:t>寻找出</a:t>
            </a:r>
            <a:r>
              <a:rPr lang="en-US" altLang="zh-CN"/>
              <a:t>DFA</a:t>
            </a:r>
            <a:r>
              <a:rPr lang="zh-CN" altLang="en-US"/>
              <a:t>的终止节点，便于后续</a:t>
            </a:r>
            <a:r>
              <a:rPr lang="zh-CN" altLang="en-US"/>
              <a:t>判断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7095" t="25592" r="8557" b="24003"/>
          <a:stretch>
            <a:fillRect/>
          </a:stretch>
        </p:blipFill>
        <p:spPr>
          <a:xfrm>
            <a:off x="922020" y="1891665"/>
            <a:ext cx="5570855" cy="9867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6616" t="10560" r="7768" b="12032"/>
          <a:stretch>
            <a:fillRect/>
          </a:stretch>
        </p:blipFill>
        <p:spPr>
          <a:xfrm>
            <a:off x="922020" y="3508375"/>
            <a:ext cx="5473065" cy="29044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DFA</a:t>
            </a:r>
            <a:r>
              <a:rPr lang="zh-CN" altLang="en-US"/>
              <a:t>生成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初始化状态机为开始</a:t>
            </a:r>
            <a:r>
              <a:rPr lang="zh-CN" altLang="en-US"/>
              <a:t>状态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生成状态机转换</a:t>
            </a:r>
            <a:r>
              <a:rPr lang="zh-CN" altLang="en-US"/>
              <a:t>代码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558" t="20520" r="7672" b="18613"/>
          <a:stretch>
            <a:fillRect/>
          </a:stretch>
        </p:blipFill>
        <p:spPr>
          <a:xfrm>
            <a:off x="695960" y="1884680"/>
            <a:ext cx="5347970" cy="1400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3389" t="7951" r="4173" b="9405"/>
          <a:stretch>
            <a:fillRect/>
          </a:stretch>
        </p:blipFill>
        <p:spPr>
          <a:xfrm>
            <a:off x="695960" y="3715385"/>
            <a:ext cx="7258050" cy="2778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DFA</a:t>
            </a:r>
            <a:r>
              <a:rPr lang="zh-CN" altLang="en-US"/>
              <a:t>生成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结束状态机代码生成之后，生成</a:t>
            </a:r>
            <a:r>
              <a:rPr lang="zh-CN" altLang="en-US"/>
              <a:t>判定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2120265"/>
            <a:ext cx="7130415" cy="39566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DFA</a:t>
            </a:r>
            <a:r>
              <a:rPr lang="zh-CN" altLang="en-US"/>
              <a:t>生成代码中的注释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判断当前处理的最后一个符号是否为</a:t>
            </a:r>
            <a:r>
              <a:rPr lang="zh-CN" altLang="en-US"/>
              <a:t>多行注释开始</a:t>
            </a:r>
            <a:r>
              <a:rPr lang="zh-CN" altLang="en-US"/>
              <a:t>符号</a:t>
            </a:r>
            <a:endParaRPr lang="zh-CN" altLang="en-US"/>
          </a:p>
          <a:p>
            <a:pPr lvl="1"/>
            <a:r>
              <a:rPr lang="zh-CN" altLang="en-US"/>
              <a:t>若是，则每前进一个符号就判断是否出现了多行注释结束</a:t>
            </a:r>
            <a:r>
              <a:rPr lang="zh-CN" altLang="en-US"/>
              <a:t>符号</a:t>
            </a:r>
            <a:endParaRPr lang="zh-CN" altLang="en-US"/>
          </a:p>
          <a:p>
            <a:pPr lvl="1"/>
            <a:r>
              <a:rPr lang="zh-CN" altLang="en-US"/>
              <a:t>若否，则正常进行后续识别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判断是否处理</a:t>
            </a:r>
            <a:r>
              <a:rPr lang="zh-CN" altLang="en-US"/>
              <a:t>到单行注释开始</a:t>
            </a:r>
            <a:r>
              <a:rPr lang="zh-CN" altLang="en-US"/>
              <a:t>符号</a:t>
            </a:r>
            <a:endParaRPr lang="zh-CN" altLang="en-US"/>
          </a:p>
          <a:p>
            <a:pPr lvl="1"/>
            <a:r>
              <a:rPr lang="zh-CN" altLang="en-US"/>
              <a:t>若是，前进，直到识别到换行</a:t>
            </a:r>
            <a:r>
              <a:rPr lang="zh-CN" altLang="en-US"/>
              <a:t>符</a:t>
            </a:r>
            <a:endParaRPr lang="zh-CN" altLang="en-US"/>
          </a:p>
          <a:p>
            <a:pPr lvl="1"/>
            <a:r>
              <a:rPr lang="zh-CN" altLang="en-US"/>
              <a:t>若否，则正常进行后续</a:t>
            </a:r>
            <a:r>
              <a:rPr lang="zh-CN" altLang="en-US"/>
              <a:t>识别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词法分析器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词法分析器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词法分析器通过</a:t>
            </a:r>
            <a:r>
              <a:rPr lang="en-US" altLang="zh-CN" b="1"/>
              <a:t>input</a:t>
            </a:r>
            <a:r>
              <a:rPr lang="zh-CN" altLang="en-US" b="1"/>
              <a:t>类</a:t>
            </a:r>
            <a:r>
              <a:rPr lang="zh-CN" altLang="en-US"/>
              <a:t>获得输入，预先准备在getInput.h文件</a:t>
            </a:r>
            <a:r>
              <a:rPr lang="zh-CN" altLang="en-US"/>
              <a:t>中</a:t>
            </a:r>
            <a:endParaRPr lang="zh-CN" altLang="en-US"/>
          </a:p>
          <a:p>
            <a:pPr marL="538480" lvl="1" indent="-206375">
              <a:buFont typeface="Arial" panose="020B0604020202020204" pitchFamily="34" charset="0"/>
              <a:buChar char="•"/>
            </a:pP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/>
              <a:t>文件目录</a:t>
            </a:r>
            <a:r>
              <a:rPr lang="zh-CN" altLang="en-US"/>
              <a:t>如下：</a:t>
            </a:r>
            <a:endParaRPr lang="zh-CN" altLang="en-US"/>
          </a:p>
          <a:p>
            <a:pPr lvl="1"/>
            <a:r>
              <a:rPr lang="zh-CN" altLang="en-US"/>
              <a:t>wordAnalyzer</a:t>
            </a:r>
            <a:endParaRPr lang="zh-CN" altLang="en-US"/>
          </a:p>
          <a:p>
            <a:pPr lvl="1"/>
            <a:r>
              <a:rPr lang="zh-CN" altLang="en-US"/>
              <a:t>├── code.cpp</a:t>
            </a:r>
            <a:endParaRPr lang="zh-CN" altLang="en-US"/>
          </a:p>
          <a:p>
            <a:pPr lvl="1"/>
            <a:r>
              <a:rPr lang="zh-CN" altLang="en-US"/>
              <a:t>└── getInput.h</a:t>
            </a:r>
            <a:endParaRPr lang="zh-CN" altLang="en-US"/>
          </a:p>
          <a:p>
            <a:pPr lvl="1"/>
            <a:endParaRPr lang="zh-CN" altLang="en-US"/>
          </a:p>
          <a:p>
            <a:r>
              <a:rPr lang="zh-CN" altLang="en-US"/>
              <a:t>编译命令</a:t>
            </a:r>
            <a:r>
              <a:rPr lang="zh-CN" altLang="en-US"/>
              <a:t>如下：</a:t>
            </a:r>
            <a:endParaRPr lang="zh-CN" altLang="en-US"/>
          </a:p>
          <a:p>
            <a:pPr lvl="1"/>
            <a:r>
              <a:rPr lang="zh-CN" altLang="en-US"/>
              <a:t>g++ wordAnalyzer/code.cpp -o getTokens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词法分析器分析完成后会在终端输出结果，重定向为</a:t>
            </a:r>
            <a:r>
              <a:rPr lang="en-US" altLang="zh-CN"/>
              <a:t>lex</a:t>
            </a:r>
            <a:r>
              <a:rPr lang="zh-CN" altLang="en-US"/>
              <a:t>文件</a:t>
            </a:r>
            <a:r>
              <a:rPr lang="zh-CN" altLang="en-US"/>
              <a:t>即可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input</a:t>
            </a:r>
            <a:r>
              <a:rPr lang="zh-CN" altLang="en-US"/>
              <a:t>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input</a:t>
            </a:r>
            <a:r>
              <a:rPr lang="zh-CN" altLang="en-US"/>
              <a:t>类通过</a:t>
            </a:r>
            <a:r>
              <a:rPr lang="zh-CN" altLang="en-US"/>
              <a:t>给定文件名读取文件</a:t>
            </a:r>
            <a:r>
              <a:rPr lang="zh-CN" altLang="en-US"/>
              <a:t>内容</a:t>
            </a:r>
            <a:endParaRPr lang="zh-CN" altLang="en-US"/>
          </a:p>
          <a:p>
            <a:r>
              <a:rPr lang="zh-CN" altLang="en-US"/>
              <a:t>封装</a:t>
            </a:r>
            <a:r>
              <a:rPr lang="zh-CN" altLang="en-US"/>
              <a:t>功能：</a:t>
            </a:r>
            <a:endParaRPr lang="zh-CN" altLang="en-US"/>
          </a:p>
          <a:p>
            <a:pPr lvl="1"/>
            <a:r>
              <a:rPr lang="zh-CN" altLang="en-US" sz="2000"/>
              <a:t>获取</a:t>
            </a:r>
            <a:r>
              <a:rPr lang="zh-CN" altLang="en-US" sz="2000"/>
              <a:t>当前字符</a:t>
            </a:r>
            <a:endParaRPr lang="zh-CN" altLang="en-US"/>
          </a:p>
          <a:p>
            <a:pPr lvl="1"/>
            <a:r>
              <a:rPr lang="zh-CN" altLang="en-US" sz="2000"/>
              <a:t>前进一个字符</a:t>
            </a:r>
            <a:endParaRPr lang="zh-CN" altLang="en-US" sz="2000"/>
          </a:p>
          <a:p>
            <a:pPr lvl="1"/>
            <a:r>
              <a:rPr lang="zh-CN" altLang="en-US" sz="2000"/>
              <a:t>回退一个</a:t>
            </a:r>
            <a:r>
              <a:rPr lang="zh-CN" altLang="en-US" sz="2000"/>
              <a:t>字符</a:t>
            </a:r>
            <a:endParaRPr lang="zh-CN" altLang="en-US" sz="2000"/>
          </a:p>
          <a:p>
            <a:pPr lvl="1"/>
            <a:r>
              <a:rPr lang="zh-CN" altLang="en-US"/>
              <a:t>记录当前</a:t>
            </a:r>
            <a:r>
              <a:rPr lang="zh-CN" altLang="en-US"/>
              <a:t>位置</a:t>
            </a:r>
            <a:endParaRPr lang="zh-CN" altLang="en-US"/>
          </a:p>
          <a:p>
            <a:pPr lvl="1"/>
            <a:r>
              <a:rPr lang="zh-CN" altLang="en-US"/>
              <a:t>通过记录回退</a:t>
            </a:r>
            <a:r>
              <a:rPr lang="zh-CN" altLang="en-US"/>
              <a:t>位置</a:t>
            </a:r>
            <a:endParaRPr lang="zh-CN" altLang="en-US"/>
          </a:p>
          <a:p>
            <a:pPr lvl="1"/>
            <a:r>
              <a:rPr lang="zh-CN" altLang="en-US"/>
              <a:t>获取区间内</a:t>
            </a:r>
            <a:r>
              <a:rPr lang="zh-CN" altLang="en-US"/>
              <a:t>字符串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LR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wata Souchou Pro M" panose="03000000000000000000" charset="-128"/>
                <a:ea typeface="Iwata Souchou Pro M" panose="03000000000000000000" charset="-128"/>
                <a:cs typeface="+mn-ea"/>
                <a:sym typeface="+mn-ea"/>
              </a:rPr>
              <a:t>(1)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/LALR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wata Souchou Pro M" panose="03000000000000000000" charset="-128"/>
                <a:ea typeface="Iwata Souchou Pro M" panose="03000000000000000000" charset="-128"/>
                <a:cs typeface="+mn-ea"/>
                <a:sym typeface="+mn-ea"/>
              </a:rPr>
              <a:t>(1)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生成器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终结符</a:t>
            </a:r>
            <a:r>
              <a:rPr lang="zh-CN" altLang="en-US"/>
              <a:t>编码</a:t>
            </a:r>
            <a:endParaRPr lang="zh-CN" altLang="en-US"/>
          </a:p>
          <a:p>
            <a:pPr lvl="1"/>
            <a:r>
              <a:rPr lang="zh-CN" altLang="en-US"/>
              <a:t>1000 if else while do return void int float double</a:t>
            </a:r>
            <a:endParaRPr lang="zh-CN" altLang="en-US"/>
          </a:p>
          <a:p>
            <a:r>
              <a:rPr lang="zh-CN" altLang="en-US"/>
              <a:t>文法</a:t>
            </a:r>
            <a:r>
              <a:rPr lang="zh-CN" altLang="en-US"/>
              <a:t>规则</a:t>
            </a:r>
            <a:endParaRPr lang="zh-CN" altLang="en-US"/>
          </a:p>
          <a:p>
            <a:pPr lvl="1"/>
            <a:r>
              <a:rPr lang="zh-CN" altLang="en-US"/>
              <a:t>program -&gt; definition-list</a:t>
            </a:r>
            <a:endParaRPr lang="zh-CN" altLang="en-US"/>
          </a:p>
          <a:p>
            <a:r>
              <a:rPr lang="zh-CN" altLang="en-US"/>
              <a:t>将文法规则输入理论课中实验四的生成器生成</a:t>
            </a:r>
            <a:r>
              <a:rPr lang="en-US" altLang="zh-CN"/>
              <a:t>LALR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zh-CN">
                <a:ea typeface="宋体" panose="02010600030101010101" pitchFamily="2" charset="-122"/>
              </a:rPr>
              <a:t>DFA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将</a:t>
            </a:r>
            <a:r>
              <a:rPr lang="en-US" altLang="zh-CN">
                <a:ea typeface="宋体" panose="02010600030101010101" pitchFamily="2" charset="-122"/>
              </a:rPr>
              <a:t>DFA</a:t>
            </a:r>
            <a:r>
              <a:rPr lang="zh-CN" altLang="en-US">
                <a:ea typeface="宋体" panose="02010600030101010101" pitchFamily="2" charset="-122"/>
              </a:rPr>
              <a:t>转为分析表以更快</a:t>
            </a:r>
            <a:r>
              <a:rPr lang="zh-CN" altLang="en-US">
                <a:ea typeface="宋体" panose="02010600030101010101" pitchFamily="2" charset="-122"/>
              </a:rPr>
              <a:t>查询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语法分析器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语法</a:t>
            </a:r>
            <a:r>
              <a:rPr lang="zh-CN" altLang="en-US"/>
              <a:t>分析器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核心：</a:t>
            </a:r>
            <a:endParaRPr lang="zh-CN" altLang="en-US"/>
          </a:p>
          <a:p>
            <a:pPr lvl="1"/>
            <a:r>
              <a:rPr lang="zh-CN" altLang="en-US"/>
              <a:t>使用</a:t>
            </a:r>
            <a:r>
              <a:rPr lang="en-US" altLang="zh-CN"/>
              <a:t>action</a:t>
            </a:r>
            <a:r>
              <a:rPr lang="zh-CN" altLang="en-US"/>
              <a:t>函数进行判断</a:t>
            </a:r>
            <a:r>
              <a:rPr lang="zh-CN" altLang="en-US">
                <a:hlinkClick r:id="rId1" action="ppaction://hlinkfile"/>
              </a:rPr>
              <a:t>action.drawio</a:t>
            </a:r>
            <a:r>
              <a:rPr lang="en-US" altLang="zh-CN">
                <a:hlinkClick r:id="rId1" action="ppaction://hlinkfile"/>
              </a:rPr>
              <a:t> </a:t>
            </a:r>
            <a:endParaRPr lang="en-US" altLang="zh-CN">
              <a:solidFill>
                <a:schemeClr val="tx1"/>
              </a:solidFill>
              <a:hlinkClick r:id="rId1" action="ppaction://hlinkfile"/>
            </a:endParaRPr>
          </a:p>
          <a:p>
            <a:pPr lvl="1"/>
            <a:r>
              <a:rPr lang="zh-CN" altLang="en-US">
                <a:sym typeface="+mn-ea"/>
              </a:rPr>
              <a:t>使用用户代码将分析树转化</a:t>
            </a:r>
            <a:r>
              <a:rPr lang="zh-CN" altLang="en-US">
                <a:sym typeface="+mn-ea"/>
              </a:rPr>
              <a:t>为语法树</a:t>
            </a:r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0"/>
            <a:r>
              <a:rPr lang="zh-CN" altLang="en-US" sz="2400">
                <a:sym typeface="+mn-ea"/>
              </a:rPr>
              <a:t>输入</a:t>
            </a:r>
            <a:endParaRPr lang="zh-CN" altLang="en-US" sz="2400">
              <a:sym typeface="+mn-ea"/>
            </a:endParaRPr>
          </a:p>
          <a:p>
            <a:pPr lvl="1"/>
            <a:r>
              <a:rPr lang="zh-CN" altLang="en-US"/>
              <a:t>词法分析器输出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LALR(1)</a:t>
            </a:r>
            <a:r>
              <a:rPr lang="zh-CN" altLang="en-US">
                <a:sym typeface="+mn-ea"/>
              </a:rPr>
              <a:t>分析表</a:t>
            </a:r>
            <a:endParaRPr lang="zh-CN" altLang="en-US"/>
          </a:p>
          <a:p>
            <a:pPr lvl="1"/>
            <a:r>
              <a:rPr lang="zh-CN" altLang="en-US"/>
              <a:t>忽略符号</a:t>
            </a:r>
            <a:r>
              <a:rPr lang="en-US" altLang="zh-CN"/>
              <a:t>ignoreSigns</a:t>
            </a:r>
            <a:r>
              <a:rPr lang="zh-CN" altLang="en-US">
                <a:ea typeface="宋体" panose="02010600030101010101" pitchFamily="2" charset="-122"/>
              </a:rPr>
              <a:t>，用于忽略</a:t>
            </a:r>
            <a:endParaRPr lang="zh-CN" altLang="en-US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用户</a:t>
            </a:r>
            <a:r>
              <a:rPr lang="en-US" altLang="zh-CN">
                <a:ea typeface="宋体" panose="02010600030101010101" pitchFamily="2" charset="-122"/>
              </a:rPr>
              <a:t>fixTree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  <a:endParaRPr lang="zh-CN" altLang="en-US">
              <a:ea typeface="宋体" panose="02010600030101010101" pitchFamily="2" charset="-122"/>
            </a:endParaRPr>
          </a:p>
          <a:p>
            <a:pPr lvl="1"/>
            <a:endParaRPr lang="zh-CN" altLang="en-US">
              <a:hlinkClick r:id="rId1" action="ppaction://hlinkfile"/>
            </a:endParaRPr>
          </a:p>
          <a:p>
            <a:pPr lvl="1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用户输入</a:t>
            </a:r>
            <a:r>
              <a:rPr lang="en-US" altLang="zh-CN"/>
              <a:t>fixTree</a:t>
            </a:r>
            <a:r>
              <a:rPr lang="zh-CN" altLang="en-US"/>
              <a:t>函数的</a:t>
            </a:r>
            <a:r>
              <a:rPr lang="zh-CN" altLang="en-US"/>
              <a:t>构建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语义函数的要求：</a:t>
            </a:r>
            <a:endParaRPr lang="zh-CN" altLang="en-US"/>
          </a:p>
          <a:p>
            <a:pPr lvl="1"/>
            <a:r>
              <a:rPr lang="zh-CN" altLang="en-US"/>
              <a:t>在文件头部包含`Include “&lt;项目根目录&gt; /grammarAnalyzer /analyzer /analyzer.h”`以获得数据结构`Tree`的定义。</a:t>
            </a:r>
            <a:endParaRPr lang="zh-CN" altLang="en-US"/>
          </a:p>
          <a:p>
            <a:pPr lvl="1"/>
            <a:r>
              <a:rPr lang="zh-CN" altLang="en-US"/>
              <a:t>在`void fixTree(Tree *tree)`内部进行实现。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修改</a:t>
            </a:r>
            <a:r>
              <a:rPr lang="zh-CN" altLang="en-US"/>
              <a:t>逻辑</a:t>
            </a:r>
            <a:endParaRPr lang="zh-CN" altLang="en-US"/>
          </a:p>
          <a:p>
            <a:pPr lvl="1"/>
            <a:r>
              <a:rPr lang="zh-CN" altLang="en-US"/>
              <a:t>递归处理分析树，从树根向上</a:t>
            </a:r>
            <a:r>
              <a:rPr lang="zh-CN" altLang="en-US"/>
              <a:t>修改</a:t>
            </a:r>
            <a:endParaRPr lang="zh-CN" altLang="en-US"/>
          </a:p>
          <a:p>
            <a:pPr lvl="1"/>
            <a:r>
              <a:rPr lang="zh-CN" altLang="en-US"/>
              <a:t>对运算符进行</a:t>
            </a:r>
            <a:r>
              <a:rPr lang="zh-CN" altLang="en-US"/>
              <a:t>处理</a:t>
            </a:r>
            <a:endParaRPr lang="zh-CN" altLang="en-US"/>
          </a:p>
          <a:p>
            <a:pPr lvl="1"/>
            <a:r>
              <a:rPr lang="zh-CN" altLang="en-US"/>
              <a:t>对逻辑控制语句进行特殊的语法树</a:t>
            </a:r>
            <a:r>
              <a:rPr lang="zh-CN" altLang="en-US"/>
              <a:t>构造</a:t>
            </a:r>
            <a:endParaRPr lang="zh-CN" altLang="en-US"/>
          </a:p>
          <a:p>
            <a:pPr lvl="1"/>
            <a:r>
              <a:rPr lang="zh-CN" altLang="en-US"/>
              <a:t>删除不必要的</a:t>
            </a:r>
            <a:r>
              <a:rPr lang="zh-CN" altLang="en-US"/>
              <a:t>符号</a:t>
            </a:r>
            <a:endParaRPr lang="zh-CN" altLang="en-US"/>
          </a:p>
          <a:p>
            <a:pPr lvl="1"/>
            <a:r>
              <a:rPr lang="zh-CN" altLang="en-US"/>
              <a:t>合并只有一个子节点的</a:t>
            </a:r>
            <a:r>
              <a:rPr lang="zh-CN" altLang="en-US"/>
              <a:t>节点</a:t>
            </a:r>
            <a:endParaRPr lang="zh-CN" altLang="en-US"/>
          </a:p>
          <a:p>
            <a:pPr lvl="1"/>
            <a:r>
              <a:rPr lang="zh-CN" altLang="en-US"/>
              <a:t>删除空</a:t>
            </a:r>
            <a:r>
              <a:rPr lang="zh-CN" altLang="en-US"/>
              <a:t>节点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500" y="663938"/>
            <a:ext cx="10515000" cy="2966449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演示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>
            <a:normAutofit/>
          </a:bodyPr>
          <a:lstStyle/>
          <a:p>
            <a:r>
              <a:rPr lang="en-US" altLang="zh-CN"/>
              <a:t>THANK YOU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>
            <a:normAutofit fontScale="70000"/>
          </a:bodyPr>
          <a:lstStyle/>
          <a:p>
            <a:r>
              <a:rPr lang="zh-CN" altLang="en-US">
                <a:sym typeface="+mn-ea"/>
              </a:rPr>
              <a:t>汇报人：黄兆清</a:t>
            </a:r>
            <a:endParaRPr lang="zh-CN" altLang="en-US"/>
          </a:p>
          <a:p>
            <a:r>
              <a:rPr lang="zh-CN" altLang="en-US">
                <a:sym typeface="+mn-ea"/>
              </a:rPr>
              <a:t>学号：</a:t>
            </a:r>
            <a:r>
              <a:rPr lang="en-US" altLang="zh-CN">
                <a:sym typeface="+mn-ea"/>
              </a:rPr>
              <a:t>20222131044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5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6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3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12_1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PRESET_TEXT" val="单击此处&#10;添加文档标题内容"/>
  <p:tag name="KSO_WM_UNIT_TEXT_TYPE" val="1"/>
</p:tagLst>
</file>

<file path=ppt/tags/tag329.xml><?xml version="1.0" encoding="utf-8"?>
<p:tagLst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4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312_4*l_h_i*1_1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312_4*l_h_a*1_1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312_4*l_h_i*1_2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312_4*l_h_a*1_2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312_4*l_h_i*1_4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312_4*l_h_a*1_4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312_4*l_h_i*1_3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312_4*l_h_a*1_3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339.xml><?xml version="1.0" encoding="utf-8"?>
<p:tagLst xmlns:p="http://schemas.openxmlformats.org/presentationml/2006/main">
  <p:tag name="KSO_WM_SLIDE_ID" val="custom20233312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312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34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342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343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4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45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4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47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48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49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50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51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35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354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355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3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359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360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36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363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36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65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367.xml><?xml version="1.0" encoding="utf-8"?>
<p:tagLst xmlns:p="http://schemas.openxmlformats.org/presentationml/2006/main">
  <p:tag name="KSO_WM_SLIDE_ID" val="custom2023331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312"/>
  <p:tag name="KSO_WM_SLIDE_TYPE" val="endPage"/>
  <p:tag name="KSO_WM_SLIDE_SUBTYPE" val="pureTxt"/>
  <p:tag name="KSO_WM_SLIDE_LAYOUT" val="a_f"/>
  <p:tag name="KSO_WM_SLIDE_LAYOUT_CNT" val="1_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f*4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</p:tagLst>
</file>

<file path=ppt/tags/tag370.xml><?xml version="1.0" encoding="utf-8"?>
<p:tagLst xmlns:p="http://schemas.openxmlformats.org/presentationml/2006/main">
  <p:tag name="KSO_WM_SLIDE_ID" val="custom2023331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312"/>
  <p:tag name="KSO_WM_SLIDE_TYPE" val="endPage"/>
  <p:tag name="KSO_WM_SLIDE_SUBTYPE" val="pureTxt"/>
  <p:tag name="KSO_WM_SLIDE_LAYOUT" val="a_f"/>
  <p:tag name="KSO_WM_SLIDE_LAYOUT_CNT" val="1_1"/>
</p:tagLst>
</file>

<file path=ppt/tags/tag371.xml><?xml version="1.0" encoding="utf-8"?>
<p:tagLst xmlns:p="http://schemas.openxmlformats.org/presentationml/2006/main">
  <p:tag name="commondata" val="eyJoZGlkIjoiY2NlYzZhMjQ2MGNmOTA0MjU2YmJmMDk0OTExZjJiODMifQ=="/>
</p:tagLst>
</file>

<file path=ppt/theme/theme1.xml><?xml version="1.0" encoding="utf-8"?>
<a:theme xmlns:a="http://schemas.openxmlformats.org/drawingml/2006/main" name="Office 主题​​">
  <a:themeElements>
    <a:clrScheme name="自定义 106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658BD5"/>
      </a:hlink>
      <a:folHlink>
        <a:srgbClr val="9D63A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AF7938"/>
      </a:hlink>
      <a:folHlink>
        <a:srgbClr val="AF7938"/>
      </a:folHlink>
    </a:clrScheme>
    <a:fontScheme name="主题字体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AF7938"/>
      </a:hlink>
      <a:folHlink>
        <a:srgbClr val="AF7938"/>
      </a:folHlink>
    </a:clrScheme>
    <a:fontScheme name="主题字体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</Words>
  <Application>WPS 演示</Application>
  <PresentationFormat>宽屏</PresentationFormat>
  <Paragraphs>198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Iwata Souchou Pro M</vt:lpstr>
      <vt:lpstr>Office 主题​​</vt:lpstr>
      <vt:lpstr>1_Office 主题​​</vt:lpstr>
      <vt:lpstr>2_Office 主题​​</vt:lpstr>
      <vt:lpstr>编译原理课程项目汇报</vt:lpstr>
      <vt:lpstr>CONTENTS</vt:lpstr>
      <vt:lpstr>词法分析器生成器</vt:lpstr>
      <vt:lpstr>PowerPoint 演示文稿</vt:lpstr>
      <vt:lpstr>PowerPoint 演示文稿</vt:lpstr>
      <vt:lpstr>PowerPoint 演示文稿</vt:lpstr>
      <vt:lpstr>PowerPoint 演示文稿</vt:lpstr>
      <vt:lpstr>1.4DFA生成代码</vt:lpstr>
      <vt:lpstr>1.4DFA生成代码</vt:lpstr>
      <vt:lpstr>1.4DFA生成代码</vt:lpstr>
      <vt:lpstr>1.4DFA生成代码</vt:lpstr>
      <vt:lpstr>PowerPoint 演示文稿</vt:lpstr>
      <vt:lpstr>词法分析器</vt:lpstr>
      <vt:lpstr>词法分析器</vt:lpstr>
      <vt:lpstr>PowerPoint 演示文稿</vt:lpstr>
      <vt:lpstr>LR(1)/LALR(1)生成器</vt:lpstr>
      <vt:lpstr>PowerPoint 演示文稿</vt:lpstr>
      <vt:lpstr>语法分析器</vt:lpstr>
      <vt:lpstr>语法分析器</vt:lpstr>
      <vt:lpstr>PowerPoint 演示文稿</vt:lpstr>
      <vt:lpstr>演示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清风如旧</dc:creator>
  <cp:lastModifiedBy>清</cp:lastModifiedBy>
  <cp:revision>9</cp:revision>
  <dcterms:created xsi:type="dcterms:W3CDTF">2023-08-09T12:44:00Z</dcterms:created>
  <dcterms:modified xsi:type="dcterms:W3CDTF">2025-01-25T07:04:26Z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2052-12.1.0.17133</vt:lpwstr>
  </property>
</Properties>
</file>